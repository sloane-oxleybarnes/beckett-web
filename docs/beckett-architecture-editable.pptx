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badb5a5dbb4e71" /><Relationship Type="http://schemas.openxmlformats.org/officeDocument/2006/relationships/extended-properties" Target="/docProps/app.xml" Id="R39637ff3219545f4" /><Relationship Type="http://schemas.openxmlformats.org/officeDocument/2006/relationships/officeDocument" Target="/ppt/presentation.xml" Id="R0fc9d9fb731f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26b3528ecb451a"/>
  </p:sldMasterIdLst>
  <p:notesMasterIdLst>
    <p:notesMasterId xmlns:r="http://schemas.openxmlformats.org/officeDocument/2006/relationships" r:id="Re6fc24385de04a36"/>
  </p:notesMasterIdLst>
  <p:sldIdLst>
    <p:sldId xmlns:r="http://schemas.openxmlformats.org/officeDocument/2006/relationships" id="256" r:id="Rba67786e39964d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0adaf9e2c24e99" /><Relationship Type="http://schemas.openxmlformats.org/officeDocument/2006/relationships/slideMaster" Target="/ppt/slideMasters/slideMaster1.xml" Id="R0726b3528ecb451a" /><Relationship Type="http://schemas.openxmlformats.org/officeDocument/2006/relationships/notesMaster" Target="/ppt/notesMasters/notesMaster1.xml" Id="Re6fc24385de04a36" /><Relationship Type="http://schemas.openxmlformats.org/officeDocument/2006/relationships/presProps" Target="/ppt/presProps.xml" Id="Rbfe1ee36982a4fe6" /><Relationship Type="http://schemas.openxmlformats.org/officeDocument/2006/relationships/tableStyles" Target="/ppt/tableStyles.xml" Id="Re5c322458b514b38" /><Relationship Type="http://schemas.openxmlformats.org/officeDocument/2006/relationships/slide" Target="/ppt/slides/slide1.xml" Id="Rba67786e39964d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7788d14374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b6fcf8d5884588" /><Relationship Type="http://schemas.openxmlformats.org/officeDocument/2006/relationships/notesMaster" Target="/ppt/notesMasters/notesMaster1.xml" Id="Rd263c3151d55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a1579a57d4e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5e57a644844905" /><Relationship Type="http://schemas.openxmlformats.org/officeDocument/2006/relationships/slideLayout" Target="/ppt/slideLayouts/slideLayout1.xml" Id="R4d2ab0f957a344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ab0f957a344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3f4f0980b4d7a" /><Relationship Type="http://schemas.openxmlformats.org/officeDocument/2006/relationships/notesSlide" Target="/ppt/notesSlides/notesSlide1.xml" Id="R23ca64b4826e46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7FE8AC68-B264-45C1-8625-FD85E24A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A7517"/>
                </a:solidFill>
              </a:defRPr>
            </a:pPr>
            <a:r>
              <a:rPr sz="1050" b="1">
                <a:solidFill>
                  <a:srgbClr val="BA7517"/>
                </a:solidFill>
              </a:rPr>
              <a:t>BECKETT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360479-CBAD-419B-B76D-0EEBEE6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917"/>
                </a:solidFill>
              </a:defRPr>
            </a:pPr>
            <a:r>
              <a:rPr sz="2700" b="1">
                <a:solidFill>
                  <a:srgbClr val="1A1917"/>
                </a:solidFill>
              </a:rPr>
              <a:t>Slack Agent Architecture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C916983-66BC-4DDE-8B50-4D866F65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5B57"/>
                </a:solidFill>
              </a:defRPr>
            </a:pPr>
            <a:r>
              <a:rPr sz="1350">
                <a:solidFill>
                  <a:srgbClr val="5E5B57"/>
                </a:solidFill>
              </a:rPr>
              <a:t>How a Slack action becomes private, context-aware coaching</a:t>
            </a:r>
          </a:p>
        </p:txBody>
      </p:sp>
      <p:sp>
        <p:nvSpPr>
          <p:cNvPr id="4" name="FRONTEND / UI-boundary">
            <a:extLst xmlns:a="http://schemas.openxmlformats.org/drawingml/2006/main">
              <a:ext uri="{FF2B5EF4-FFF2-40B4-BE49-F238E27FC236}">
                <a16:creationId xmlns:a16="http://schemas.microsoft.com/office/drawing/2014/main" id="{14449771-78DE-413E-8436-1592422A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2762250" cy="52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" name="FRONTEND / UI-header-bg">
            <a:extLst xmlns:a="http://schemas.openxmlformats.org/drawingml/2006/main">
              <a:ext uri="{FF2B5EF4-FFF2-40B4-BE49-F238E27FC236}">
                <a16:creationId xmlns:a16="http://schemas.microsoft.com/office/drawing/2014/main" id="{BD28DCDD-1316-465E-94C3-114D8183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F4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" name="FRONTEND / UI-header">
            <a:extLst xmlns:a="http://schemas.openxmlformats.org/drawingml/2006/main">
              <a:ext uri="{FF2B5EF4-FFF2-40B4-BE49-F238E27FC236}">
                <a16:creationId xmlns:a16="http://schemas.microsoft.com/office/drawing/2014/main" id="{DBCC7681-197F-44B4-B31E-FFC5D6F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287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A154B"/>
                </a:solidFill>
              </a:defRPr>
            </a:pPr>
            <a:r>
              <a:rPr sz="1350" b="1">
                <a:solidFill>
                  <a:srgbClr val="4A154B"/>
                </a:solidFill>
              </a:rPr>
              <a:t>FRONTEND / UI</a:t>
            </a:r>
          </a:p>
        </p:txBody>
      </p:sp>
      <p:sp>
        <p:nvSpPr>
          <p:cNvPr id="7" name="BACKEND / CORE LOGIC-boundary">
            <a:extLst xmlns:a="http://schemas.openxmlformats.org/drawingml/2006/main">
              <a:ext uri="{FF2B5EF4-FFF2-40B4-BE49-F238E27FC236}">
                <a16:creationId xmlns:a16="http://schemas.microsoft.com/office/drawing/2014/main" id="{E141F867-099B-4BAF-924F-2A02FF46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23950"/>
            <a:ext cx="4572000" cy="52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8" name="BACKEND / CORE LOGIC-header-bg">
            <a:extLst xmlns:a="http://schemas.openxmlformats.org/drawingml/2006/main">
              <a:ext uri="{FF2B5EF4-FFF2-40B4-BE49-F238E27FC236}">
                <a16:creationId xmlns:a16="http://schemas.microsoft.com/office/drawing/2014/main" id="{96386722-9DB8-482F-B549-E9F178F8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2395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9" name="BACKEND / CORE LOGIC-header">
            <a:extLst xmlns:a="http://schemas.openxmlformats.org/drawingml/2006/main">
              <a:ext uri="{FF2B5EF4-FFF2-40B4-BE49-F238E27FC236}">
                <a16:creationId xmlns:a16="http://schemas.microsoft.com/office/drawing/2014/main" id="{CC55B962-20D1-40C7-88F0-9D42ADCF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22872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54F0B"/>
                </a:solidFill>
              </a:defRPr>
            </a:pPr>
            <a:r>
              <a:rPr sz="1350" b="1">
                <a:solidFill>
                  <a:srgbClr val="854F0B"/>
                </a:solidFill>
              </a:rPr>
              <a:t>BACKEND / CORE LOGIC</a:t>
            </a:r>
          </a:p>
        </p:txBody>
      </p:sp>
      <p:sp>
        <p:nvSpPr>
          <p:cNvPr id="10" name="DATA / EXTERNAL SERVICES-boundary">
            <a:extLst xmlns:a="http://schemas.openxmlformats.org/drawingml/2006/main">
              <a:ext uri="{FF2B5EF4-FFF2-40B4-BE49-F238E27FC236}">
                <a16:creationId xmlns:a16="http://schemas.microsoft.com/office/drawing/2014/main" id="{5CEDD081-EE87-4F3B-B47D-9C51A55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23950"/>
            <a:ext cx="3333750" cy="52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DATA / EXTERNAL SERVICES-header-bg">
            <a:extLst xmlns:a="http://schemas.openxmlformats.org/drawingml/2006/main">
              <a:ext uri="{FF2B5EF4-FFF2-40B4-BE49-F238E27FC236}">
                <a16:creationId xmlns:a16="http://schemas.microsoft.com/office/drawing/2014/main" id="{9BA5E329-67FD-4003-BC54-ED4C1D73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239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2" name="DATA / EXTERNAL SERVICES-header">
            <a:extLst xmlns:a="http://schemas.openxmlformats.org/drawingml/2006/main">
              <a:ext uri="{FF2B5EF4-FFF2-40B4-BE49-F238E27FC236}">
                <a16:creationId xmlns:a16="http://schemas.microsoft.com/office/drawing/2014/main" id="{2AFC3A84-B761-4B49-8DF7-D156F710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22872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A2D"/>
                </a:solidFill>
              </a:defRPr>
            </a:pPr>
            <a:r>
              <a:rPr sz="1350" b="1">
                <a:solidFill>
                  <a:srgbClr val="2D6A2D"/>
                </a:solidFill>
              </a:rPr>
              <a:t>DATA / EXTERNAL SERVICES</a:t>
            </a:r>
          </a:p>
        </p:txBody>
      </p:sp>
      <p:sp>
        <p:nvSpPr>
          <p:cNvPr id="13" name="slack-user">
            <a:extLst xmlns:a="http://schemas.openxmlformats.org/drawingml/2006/main">
              <a:ext uri="{FF2B5EF4-FFF2-40B4-BE49-F238E27FC236}">
                <a16:creationId xmlns:a16="http://schemas.microsoft.com/office/drawing/2014/main" id="{64452D00-1225-4802-8070-AB1AAA35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905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154B"/>
            </a:solidFill>
            <a:prstDash val="solid"/>
          </a:ln>
        </p:spPr>
      </p:sp>
      <p:sp>
        <p:nvSpPr>
          <p:cNvPr id="14" name="slack-user-title">
            <a:extLst xmlns:a="http://schemas.openxmlformats.org/drawingml/2006/main">
              <a:ext uri="{FF2B5EF4-FFF2-40B4-BE49-F238E27FC236}">
                <a16:creationId xmlns:a16="http://schemas.microsoft.com/office/drawing/2014/main" id="{CE24D5E9-4466-4958-BEEA-CADAF39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917"/>
                </a:solidFill>
              </a:defRPr>
            </a:pPr>
            <a:r>
              <a:rPr sz="1575" b="1">
                <a:solidFill>
                  <a:srgbClr val="1A1917"/>
                </a:solidFill>
              </a:rPr>
              <a:t>Slack</a:t>
            </a:r>
          </a:p>
        </p:txBody>
      </p:sp>
      <p:sp>
        <p:nvSpPr>
          <p:cNvPr id="15" name="slack-user-subtitle">
            <a:extLst xmlns:a="http://schemas.openxmlformats.org/drawingml/2006/main">
              <a:ext uri="{FF2B5EF4-FFF2-40B4-BE49-F238E27FC236}">
                <a16:creationId xmlns:a16="http://schemas.microsoft.com/office/drawing/2014/main" id="{D78C75D3-F4D6-4A74-A807-1A110C7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032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Commands • Buttons • Threads</a:t>
            </a:r>
          </a:p>
        </p:txBody>
      </p:sp>
      <p:sp>
        <p:nvSpPr>
          <p:cNvPr id="16" name="private-thread">
            <a:extLst xmlns:a="http://schemas.openxmlformats.org/drawingml/2006/main">
              <a:ext uri="{FF2B5EF4-FFF2-40B4-BE49-F238E27FC236}">
                <a16:creationId xmlns:a16="http://schemas.microsoft.com/office/drawing/2014/main" id="{9F9CE5FE-3541-41AD-B813-8565083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A2D"/>
            </a:solidFill>
            <a:prstDash val="solid"/>
          </a:ln>
        </p:spPr>
      </p:sp>
      <p:sp>
        <p:nvSpPr>
          <p:cNvPr id="17" name="private-thread-title">
            <a:extLst xmlns:a="http://schemas.openxmlformats.org/drawingml/2006/main">
              <a:ext uri="{FF2B5EF4-FFF2-40B4-BE49-F238E27FC236}">
                <a16:creationId xmlns:a16="http://schemas.microsoft.com/office/drawing/2014/main" id="{3D01CF76-26F4-4D9D-A056-81F63D65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917"/>
                </a:solidFill>
              </a:defRPr>
            </a:pPr>
            <a:r>
              <a:rPr sz="1575" b="1">
                <a:solidFill>
                  <a:srgbClr val="1A1917"/>
                </a:solidFill>
              </a:rPr>
              <a:t>Private Slack</a:t>
            </a:r>
          </a:p>
          <a:p xmlns:a="http://schemas.openxmlformats.org/drawingml/2006/main">
            <a:pPr algn="ctr">
              <a:defRPr sz="1575" b="1">
                <a:solidFill>
                  <a:srgbClr val="1A1917"/>
                </a:solidFill>
              </a:defRPr>
            </a:pPr>
            <a:r>
              <a:rPr sz="1575" b="1">
                <a:solidFill>
                  <a:srgbClr val="1A1917"/>
                </a:solidFill>
              </a:rPr>
              <a:t>thread</a:t>
            </a:r>
          </a:p>
        </p:txBody>
      </p:sp>
      <p:sp>
        <p:nvSpPr>
          <p:cNvPr id="18" name="private-thread-subtitle">
            <a:extLst xmlns:a="http://schemas.openxmlformats.org/drawingml/2006/main">
              <a:ext uri="{FF2B5EF4-FFF2-40B4-BE49-F238E27FC236}">
                <a16:creationId xmlns:a16="http://schemas.microsoft.com/office/drawing/2014/main" id="{0444EFA8-E676-4452-9660-D8A7032E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1600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Advice • Drafts • Practice</a:t>
            </a:r>
          </a:p>
        </p:txBody>
      </p:sp>
      <p:sp>
        <p:nvSpPr>
          <p:cNvPr id="19" name="beckett-api">
            <a:extLst xmlns:a="http://schemas.openxmlformats.org/drawingml/2006/main">
              <a:ext uri="{FF2B5EF4-FFF2-40B4-BE49-F238E27FC236}">
                <a16:creationId xmlns:a16="http://schemas.microsoft.com/office/drawing/2014/main" id="{EE87D8E4-76ED-410D-A4E9-D5758999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2667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1917"/>
            </a:solidFill>
            <a:prstDash val="solid"/>
          </a:ln>
        </p:spPr>
      </p:sp>
      <p:sp>
        <p:nvSpPr>
          <p:cNvPr id="20" name="beckett-api-title">
            <a:extLst xmlns:a="http://schemas.openxmlformats.org/drawingml/2006/main">
              <a:ext uri="{FF2B5EF4-FFF2-40B4-BE49-F238E27FC236}">
                <a16:creationId xmlns:a16="http://schemas.microsoft.com/office/drawing/2014/main" id="{1BBF9EC3-5D8B-4DA8-83E0-59FF1148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812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917"/>
                </a:solidFill>
              </a:defRPr>
            </a:pPr>
            <a:r>
              <a:rPr sz="1575" b="1">
                <a:solidFill>
                  <a:srgbClr val="1A1917"/>
                </a:solidFill>
              </a:rPr>
              <a:t>Beckett API</a:t>
            </a:r>
          </a:p>
        </p:txBody>
      </p:sp>
      <p:sp>
        <p:nvSpPr>
          <p:cNvPr id="21" name="beckett-api-subtitle">
            <a:extLst xmlns:a="http://schemas.openxmlformats.org/drawingml/2006/main">
              <a:ext uri="{FF2B5EF4-FFF2-40B4-BE49-F238E27FC236}">
                <a16:creationId xmlns:a16="http://schemas.microsoft.com/office/drawing/2014/main" id="{6BA7D887-6787-42AB-9916-C6A2E3F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Next.js on Vercel</a:t>
            </a:r>
          </a:p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HTTPS events • Verify request • Route intent</a:t>
            </a:r>
          </a:p>
        </p:txBody>
      </p:sp>
      <p:sp>
        <p:nvSpPr>
          <p:cNvPr id="22" name="coaching-engine">
            <a:extLst xmlns:a="http://schemas.openxmlformats.org/drawingml/2006/main">
              <a:ext uri="{FF2B5EF4-FFF2-40B4-BE49-F238E27FC236}">
                <a16:creationId xmlns:a16="http://schemas.microsoft.com/office/drawing/2014/main" id="{31F5FE6B-A118-415A-AA6F-93F3AED2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048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BA7517"/>
            </a:solidFill>
            <a:prstDash val="solid"/>
          </a:ln>
        </p:spPr>
      </p:sp>
      <p:sp>
        <p:nvSpPr>
          <p:cNvPr id="23" name="coaching-engine-title">
            <a:extLst xmlns:a="http://schemas.openxmlformats.org/drawingml/2006/main">
              <a:ext uri="{FF2B5EF4-FFF2-40B4-BE49-F238E27FC236}">
                <a16:creationId xmlns:a16="http://schemas.microsoft.com/office/drawing/2014/main" id="{BF67BEF4-51D5-4965-901B-270B31B5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917"/>
                </a:solidFill>
              </a:defRPr>
            </a:pPr>
            <a:r>
              <a:rPr sz="1575" b="1">
                <a:solidFill>
                  <a:srgbClr val="1A1917"/>
                </a:solidFill>
              </a:rPr>
              <a:t>Beckett coaching engine</a:t>
            </a:r>
          </a:p>
        </p:txBody>
      </p:sp>
      <p:sp>
        <p:nvSpPr>
          <p:cNvPr id="24" name="coaching-engine-subtitle">
            <a:extLst xmlns:a="http://schemas.openxmlformats.org/drawingml/2006/main">
              <a:ext uri="{FF2B5EF4-FFF2-40B4-BE49-F238E27FC236}">
                <a16:creationId xmlns:a16="http://schemas.microsoft.com/office/drawing/2014/main" id="{EB46AD13-025E-48EC-ADEB-AB8A247E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52950"/>
            <a:ext cx="274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Assemble context</a:t>
            </a:r>
          </a:p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Apply coaching framework</a:t>
            </a:r>
          </a:p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Generate response</a:t>
            </a:r>
          </a:p>
        </p:txBody>
      </p:sp>
      <p:sp>
        <p:nvSpPr>
          <p:cNvPr id="25" name="supabase">
            <a:extLst xmlns:a="http://schemas.openxmlformats.org/drawingml/2006/main">
              <a:ext uri="{FF2B5EF4-FFF2-40B4-BE49-F238E27FC236}">
                <a16:creationId xmlns:a16="http://schemas.microsoft.com/office/drawing/2014/main" id="{8CF5A3D9-7C98-48C3-A09A-A15AC2D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190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CF8E"/>
            </a:solidFill>
            <a:prstDash val="solid"/>
          </a:ln>
        </p:spPr>
      </p:sp>
      <p:sp>
        <p:nvSpPr>
          <p:cNvPr id="26" name="supabase-title">
            <a:extLst xmlns:a="http://schemas.openxmlformats.org/drawingml/2006/main">
              <a:ext uri="{FF2B5EF4-FFF2-40B4-BE49-F238E27FC236}">
                <a16:creationId xmlns:a16="http://schemas.microsoft.com/office/drawing/2014/main" id="{38D18A16-9792-4349-9978-BC9EEDC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33575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917"/>
                </a:solidFill>
              </a:defRPr>
            </a:pPr>
            <a:r>
              <a:rPr sz="1575" b="1">
                <a:solidFill>
                  <a:srgbClr val="1A1917"/>
                </a:solidFill>
              </a:rPr>
              <a:t>Supabase</a:t>
            </a:r>
          </a:p>
        </p:txBody>
      </p:sp>
      <p:sp>
        <p:nvSpPr>
          <p:cNvPr id="27" name="supabase-subtitle">
            <a:extLst xmlns:a="http://schemas.openxmlformats.org/drawingml/2006/main">
              <a:ext uri="{FF2B5EF4-FFF2-40B4-BE49-F238E27FC236}">
                <a16:creationId xmlns:a16="http://schemas.microsoft.com/office/drawing/2014/main" id="{A86C4CCC-588E-4AB3-A8F5-3F0DC8DF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9825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Postgres</a:t>
            </a:r>
          </a:p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Conversation state • Profiles</a:t>
            </a:r>
          </a:p>
        </p:txBody>
      </p:sp>
      <p:sp>
        <p:nvSpPr>
          <p:cNvPr id="28" name="slack-api">
            <a:extLst xmlns:a="http://schemas.openxmlformats.org/drawingml/2006/main">
              <a:ext uri="{FF2B5EF4-FFF2-40B4-BE49-F238E27FC236}">
                <a16:creationId xmlns:a16="http://schemas.microsoft.com/office/drawing/2014/main" id="{C5D811B1-CB26-428E-8B0D-353E4E94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2190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4DA3"/>
            </a:solidFill>
            <a:prstDash val="solid"/>
          </a:ln>
        </p:spPr>
      </p:sp>
      <p:sp>
        <p:nvSpPr>
          <p:cNvPr id="29" name="slack-api-title">
            <a:extLst xmlns:a="http://schemas.openxmlformats.org/drawingml/2006/main">
              <a:ext uri="{FF2B5EF4-FFF2-40B4-BE49-F238E27FC236}">
                <a16:creationId xmlns:a16="http://schemas.microsoft.com/office/drawing/2014/main" id="{4E887291-363F-47AA-BF27-E0518450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48075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917"/>
                </a:solidFill>
              </a:defRPr>
            </a:pPr>
            <a:r>
              <a:rPr sz="1575" b="1">
                <a:solidFill>
                  <a:srgbClr val="1A1917"/>
                </a:solidFill>
              </a:rPr>
              <a:t>Slack APIs + RTS</a:t>
            </a:r>
          </a:p>
        </p:txBody>
      </p:sp>
      <p:sp>
        <p:nvSpPr>
          <p:cNvPr id="30" name="slack-api-subtitle">
            <a:extLst xmlns:a="http://schemas.openxmlformats.org/drawingml/2006/main">
              <a:ext uri="{FF2B5EF4-FFF2-40B4-BE49-F238E27FC236}">
                <a16:creationId xmlns:a16="http://schemas.microsoft.com/office/drawing/2014/main" id="{67580AD3-9ED5-49EE-98D8-39E05225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24325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Message • Thread • Search context</a:t>
            </a:r>
          </a:p>
        </p:txBody>
      </p:sp>
      <p:sp>
        <p:nvSpPr>
          <p:cNvPr id="31" name="bedrock">
            <a:extLst xmlns:a="http://schemas.openxmlformats.org/drawingml/2006/main">
              <a:ext uri="{FF2B5EF4-FFF2-40B4-BE49-F238E27FC236}">
                <a16:creationId xmlns:a16="http://schemas.microsoft.com/office/drawing/2014/main" id="{68319075-BC7B-4D1C-84E1-B18BFC90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48250"/>
            <a:ext cx="2190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9900"/>
            </a:solidFill>
            <a:prstDash val="solid"/>
          </a:ln>
        </p:spPr>
      </p:sp>
      <p:sp>
        <p:nvSpPr>
          <p:cNvPr id="32" name="bedrock-title">
            <a:extLst xmlns:a="http://schemas.openxmlformats.org/drawingml/2006/main">
              <a:ext uri="{FF2B5EF4-FFF2-40B4-BE49-F238E27FC236}">
                <a16:creationId xmlns:a16="http://schemas.microsoft.com/office/drawing/2014/main" id="{89BA2D23-00AE-48B1-BA18-8F7D8073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197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917"/>
                </a:solidFill>
              </a:defRPr>
            </a:pPr>
            <a:r>
              <a:rPr sz="1575" b="1">
                <a:solidFill>
                  <a:srgbClr val="1A1917"/>
                </a:solidFill>
              </a:rPr>
              <a:t>AWS Bedrock</a:t>
            </a:r>
          </a:p>
        </p:txBody>
      </p:sp>
      <p:sp>
        <p:nvSpPr>
          <p:cNvPr id="33" name="bedrock-subtitle">
            <a:extLst xmlns:a="http://schemas.openxmlformats.org/drawingml/2006/main">
              <a:ext uri="{FF2B5EF4-FFF2-40B4-BE49-F238E27FC236}">
                <a16:creationId xmlns:a16="http://schemas.microsoft.com/office/drawing/2014/main" id="{188047BA-27AE-4B20-A0EE-1B757C67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959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Claude</a:t>
            </a:r>
          </a:p>
          <a:p xmlns:a="http://schemas.openxmlformats.org/drawingml/2006/main">
            <a:pPr algn="ctr">
              <a:defRPr sz="1200">
                <a:solidFill>
                  <a:srgbClr val="5E5B57"/>
                </a:solidFill>
              </a:defRPr>
            </a:pPr>
            <a:r>
              <a:rPr sz="1200">
                <a:solidFill>
                  <a:srgbClr val="5E5B57"/>
                </a:solidFill>
              </a:rPr>
              <a:t>AI response generation</a:t>
            </a:r>
          </a:p>
        </p:txBody>
      </p:sp>
      <p:cxnSp>
        <p:nvCxnSpPr>
          <p:cNvPr id="80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2781300" y="2476500"/>
            <a:ext cx="16954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4141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810250" y="31432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4141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7143750" y="2428875"/>
            <a:ext cx="18097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414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7334250" y="4143375"/>
            <a:ext cx="16192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1414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22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334250" y="4762500"/>
            <a:ext cx="161925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1414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22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2781300" y="4762500"/>
            <a:ext cx="1504950" cy="385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A2D"/>
            </a:solidFill>
            <a:prstDash val="solid"/>
            <a:tailEnd type="triangle" w="sm" len="sm"/>
          </a:ln>
        </p:spPr>
      </p:cxnSp>
      <p:sp>
        <p:nvSpPr>
          <p:cNvPr id="40" name="label-1">
            <a:extLst xmlns:a="http://schemas.openxmlformats.org/drawingml/2006/main">
              <a:ext uri="{FF2B5EF4-FFF2-40B4-BE49-F238E27FC236}">
                <a16:creationId xmlns:a16="http://schemas.microsoft.com/office/drawing/2014/main" id="{D27EBD91-D2A7-4BBC-9E0E-8F9819B7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A1917"/>
                </a:solidFill>
              </a:defRPr>
            </a:pPr>
            <a:r>
              <a:rPr sz="1200">
                <a:solidFill>
                  <a:srgbClr val="1A1917"/>
                </a:solidFill>
              </a:rPr>
              <a:t>1  Slack event</a:t>
            </a:r>
          </a:p>
        </p:txBody>
      </p:sp>
      <p:sp>
        <p:nvSpPr>
          <p:cNvPr id="41" name="label-2">
            <a:extLst xmlns:a="http://schemas.openxmlformats.org/drawingml/2006/main">
              <a:ext uri="{FF2B5EF4-FFF2-40B4-BE49-F238E27FC236}">
                <a16:creationId xmlns:a16="http://schemas.microsoft.com/office/drawing/2014/main" id="{B6642961-EC88-422D-9CA1-303E005F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A1917"/>
                </a:solidFill>
              </a:defRPr>
            </a:pPr>
            <a:r>
              <a:rPr sz="1200">
                <a:solidFill>
                  <a:srgbClr val="1A1917"/>
                </a:solidFill>
              </a:rPr>
              <a:t>2  Route request</a:t>
            </a:r>
          </a:p>
        </p:txBody>
      </p:sp>
      <p:sp>
        <p:nvSpPr>
          <p:cNvPr id="42" name="label-3">
            <a:extLst xmlns:a="http://schemas.openxmlformats.org/drawingml/2006/main">
              <a:ext uri="{FF2B5EF4-FFF2-40B4-BE49-F238E27FC236}">
                <a16:creationId xmlns:a16="http://schemas.microsoft.com/office/drawing/2014/main" id="{34CA2347-50C7-4B85-9FB9-E7A5A6E7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A1917"/>
                </a:solidFill>
              </a:defRPr>
            </a:pPr>
            <a:r>
              <a:rPr sz="1200">
                <a:solidFill>
                  <a:srgbClr val="1A1917"/>
                </a:solidFill>
              </a:rPr>
              <a:t>3  State read / write</a:t>
            </a:r>
          </a:p>
        </p:txBody>
      </p:sp>
      <p:sp>
        <p:nvSpPr>
          <p:cNvPr id="43" name="label-4">
            <a:extLst xmlns:a="http://schemas.openxmlformats.org/drawingml/2006/main">
              <a:ext uri="{FF2B5EF4-FFF2-40B4-BE49-F238E27FC236}">
                <a16:creationId xmlns:a16="http://schemas.microsoft.com/office/drawing/2014/main" id="{ECC3482D-CDDE-4926-B12B-1F697650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A1917"/>
                </a:solidFill>
              </a:defRPr>
            </a:pPr>
            <a:r>
              <a:rPr sz="1200">
                <a:solidFill>
                  <a:srgbClr val="1A1917"/>
                </a:solidFill>
              </a:rPr>
              <a:t>4  Slack context</a:t>
            </a:r>
          </a:p>
        </p:txBody>
      </p:sp>
      <p:sp>
        <p:nvSpPr>
          <p:cNvPr id="44" name="label-5">
            <a:extLst xmlns:a="http://schemas.openxmlformats.org/drawingml/2006/main">
              <a:ext uri="{FF2B5EF4-FFF2-40B4-BE49-F238E27FC236}">
                <a16:creationId xmlns:a16="http://schemas.microsoft.com/office/drawing/2014/main" id="{0B600B70-5254-43DA-ABEB-63772E1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A1917"/>
                </a:solidFill>
              </a:defRPr>
            </a:pPr>
            <a:r>
              <a:rPr sz="1200">
                <a:solidFill>
                  <a:srgbClr val="1A1917"/>
                </a:solidFill>
              </a:rPr>
              <a:t>5  AI response</a:t>
            </a:r>
          </a:p>
        </p:txBody>
      </p:sp>
      <p:sp>
        <p:nvSpPr>
          <p:cNvPr id="45" name="label-6">
            <a:extLst xmlns:a="http://schemas.openxmlformats.org/drawingml/2006/main">
              <a:ext uri="{FF2B5EF4-FFF2-40B4-BE49-F238E27FC236}">
                <a16:creationId xmlns:a16="http://schemas.microsoft.com/office/drawing/2014/main" id="{8D539C78-53F1-4431-A052-ED3484E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128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D6A2D"/>
                </a:solidFill>
              </a:defRPr>
            </a:pPr>
            <a:r>
              <a:rPr sz="1200">
                <a:solidFill>
                  <a:srgbClr val="2D6A2D"/>
                </a:solidFill>
              </a:rPr>
              <a:t>6  Private reply</a:t>
            </a:r>
          </a:p>
        </p:txBody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0D936942-1D25-4DF9-B104-DF141D20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5B57"/>
                </a:solidFill>
              </a:defRPr>
            </a:pPr>
            <a:r>
              <a:rPr sz="1125">
                <a:solidFill>
                  <a:srgbClr val="5E5B57"/>
                </a:solidFill>
              </a:rPr>
              <a:t>Selected message and same-thread context are used first. RTS adds relevant workspace context when available.</a:t>
            </a:r>
          </a:p>
        </p:txBody>
      </p:sp>
    </p:spTree>
    <p:extLst>
      <p:ext uri="{BB962C8B-B14F-4D97-AF65-F5344CB8AC3E}">
        <p14:creationId xmlns:p14="http://schemas.microsoft.com/office/powerpoint/2010/main" val="1564329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2026-07-13T21:58:30.2960000Z</dcterms:created>
  <dcterms:modified xsi:type="dcterms:W3CDTF">2026-07-13T21:58:30.2960000Z</dcterms:modified>
</coreProperties>
</file>